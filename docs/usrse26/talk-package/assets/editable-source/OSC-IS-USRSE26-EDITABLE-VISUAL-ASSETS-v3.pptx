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a80bf8199486f" /><Relationship Type="http://schemas.openxmlformats.org/officeDocument/2006/relationships/extended-properties" Target="/docProps/app.xml" Id="Rc3a6981426664052" /><Relationship Type="http://schemas.openxmlformats.org/officeDocument/2006/relationships/officeDocument" Target="/ppt/presentation.xml" Id="Rb6ee9071536944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12fa4b894646c4"/>
  </p:sldMasterIdLst>
  <p:notesMasterIdLst>
    <p:notesMasterId xmlns:r="http://schemas.openxmlformats.org/officeDocument/2006/relationships" r:id="Rcd874da14b0c41ec"/>
  </p:notesMasterIdLst>
  <p:sldIdLst>
    <p:sldId xmlns:r="http://schemas.openxmlformats.org/officeDocument/2006/relationships" id="256" r:id="R54980fb58c58428f"/>
    <p:sldId xmlns:r="http://schemas.openxmlformats.org/officeDocument/2006/relationships" id="257" r:id="R8480294c527247b5"/>
    <p:sldId xmlns:r="http://schemas.openxmlformats.org/officeDocument/2006/relationships" id="258" r:id="Rcdfa8ad2a7034af3"/>
    <p:sldId xmlns:r="http://schemas.openxmlformats.org/officeDocument/2006/relationships" id="259" r:id="R4cd2515421744c7b"/>
    <p:sldId xmlns:r="http://schemas.openxmlformats.org/officeDocument/2006/relationships" id="260" r:id="R762f77c0a93a40ef"/>
    <p:sldId xmlns:r="http://schemas.openxmlformats.org/officeDocument/2006/relationships" id="261" r:id="R20099236edbb43d7"/>
    <p:sldId xmlns:r="http://schemas.openxmlformats.org/officeDocument/2006/relationships" id="262" r:id="R751ae589745349fc"/>
    <p:sldId xmlns:r="http://schemas.openxmlformats.org/officeDocument/2006/relationships" id="263" r:id="R26d42252029f4918"/>
    <p:sldId xmlns:r="http://schemas.openxmlformats.org/officeDocument/2006/relationships" id="264" r:id="Rb17ed3313289453c"/>
    <p:sldId xmlns:r="http://schemas.openxmlformats.org/officeDocument/2006/relationships" id="265" r:id="R5135a767cef549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533dad71ba4388" /><Relationship Type="http://schemas.openxmlformats.org/officeDocument/2006/relationships/slideMaster" Target="/ppt/slideMasters/slideMaster1.xml" Id="R5d12fa4b894646c4" /><Relationship Type="http://schemas.openxmlformats.org/officeDocument/2006/relationships/notesMaster" Target="/ppt/notesMasters/notesMaster1.xml" Id="Rcd874da14b0c41ec" /><Relationship Type="http://schemas.openxmlformats.org/officeDocument/2006/relationships/presProps" Target="/ppt/presProps.xml" Id="Raa2f16217bd54135" /><Relationship Type="http://schemas.openxmlformats.org/officeDocument/2006/relationships/tableStyles" Target="/ppt/tableStyles.xml" Id="R0b097dcc38ed44a2" /><Relationship Type="http://schemas.openxmlformats.org/officeDocument/2006/relationships/slide" Target="/ppt/slides/slide1.xml" Id="R54980fb58c58428f" /><Relationship Type="http://schemas.openxmlformats.org/officeDocument/2006/relationships/slide" Target="/ppt/slides/slide2.xml" Id="R8480294c527247b5" /><Relationship Type="http://schemas.openxmlformats.org/officeDocument/2006/relationships/slide" Target="/ppt/slides/slide3.xml" Id="Rcdfa8ad2a7034af3" /><Relationship Type="http://schemas.openxmlformats.org/officeDocument/2006/relationships/slide" Target="/ppt/slides/slide4.xml" Id="R4cd2515421744c7b" /><Relationship Type="http://schemas.openxmlformats.org/officeDocument/2006/relationships/slide" Target="/ppt/slides/slide5.xml" Id="R762f77c0a93a40ef" /><Relationship Type="http://schemas.openxmlformats.org/officeDocument/2006/relationships/slide" Target="/ppt/slides/slide6.xml" Id="R20099236edbb43d7" /><Relationship Type="http://schemas.openxmlformats.org/officeDocument/2006/relationships/slide" Target="/ppt/slides/slide7.xml" Id="R751ae589745349fc" /><Relationship Type="http://schemas.openxmlformats.org/officeDocument/2006/relationships/slide" Target="/ppt/slides/slide8.xml" Id="R26d42252029f4918" /><Relationship Type="http://schemas.openxmlformats.org/officeDocument/2006/relationships/slide" Target="/ppt/slides/slide9.xml" Id="Rb17ed3313289453c" /><Relationship Type="http://schemas.openxmlformats.org/officeDocument/2006/relationships/slide" Target="/ppt/slides/slide10.xml" Id="R5135a767cef549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5774a7328d40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823015f8e64b61" /><Relationship Type="http://schemas.openxmlformats.org/officeDocument/2006/relationships/notesMaster" Target="/ppt/notesMasters/notesMaster1.xml" Id="R46d38444cb8740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cb38b67f9448d4" /><Relationship Type="http://schemas.openxmlformats.org/officeDocument/2006/relationships/notesMaster" Target="/ppt/notesMasters/notesMaster1.xml" Id="Rfa0523bd8aa94e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62581dfd7f4ff0" /><Relationship Type="http://schemas.openxmlformats.org/officeDocument/2006/relationships/notesMaster" Target="/ppt/notesMasters/notesMaster1.xml" Id="R5460fcfb24fc4d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1aa8c874284144" /><Relationship Type="http://schemas.openxmlformats.org/officeDocument/2006/relationships/notesMaster" Target="/ppt/notesMasters/notesMaster1.xml" Id="Rd1160ed4f21b42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a8c44eec5544f0" /><Relationship Type="http://schemas.openxmlformats.org/officeDocument/2006/relationships/notesMaster" Target="/ppt/notesMasters/notesMaster1.xml" Id="R8816e677dcb743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fcabb6b01e4907" /><Relationship Type="http://schemas.openxmlformats.org/officeDocument/2006/relationships/notesMaster" Target="/ppt/notesMasters/notesMaster1.xml" Id="R1201dc99dfb3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1de33d28064223" /><Relationship Type="http://schemas.openxmlformats.org/officeDocument/2006/relationships/notesMaster" Target="/ppt/notesMasters/notesMaster1.xml" Id="Ra0c7f82b638949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5c4b02069148d6" /><Relationship Type="http://schemas.openxmlformats.org/officeDocument/2006/relationships/notesMaster" Target="/ppt/notesMasters/notesMaster1.xml" Id="R0616c38bc67748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4f09f576584cb0" /><Relationship Type="http://schemas.openxmlformats.org/officeDocument/2006/relationships/notesMaster" Target="/ppt/notesMasters/notesMaster1.xml" Id="Rb4ddb74c4e9147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cdbb21dbaab4b01" /><Relationship Type="http://schemas.openxmlformats.org/officeDocument/2006/relationships/notesMaster" Target="/ppt/notesMasters/notesMaster1.xml" Id="R2d8c7bcc156d4d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Historical conceptual view derived from the original OSC-IS Draw.io diagrams and current-state review. The historical deployment connected the WebApp, API Gateway, PostgreSQL, RabbitMQ, workers, a compatibility adapter/OSC-API path, and an externally managed Fabric VM.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C01, C02, and C15 in the US-RSE 2026 claim-evidence matrix. Six authorization controls were recorded in each of two separate disposable AWS runs. Claims apply to tested scenarios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OSC-IS-Infra AWS evidence commits d5975ce and 25aefb8. The EKS path excluded OSC-API and the historical compatibility adapter. OIDC is documented as workflow configuration; the retained evidence does not prove a remote GitHub Actions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boundary: live browser edge smoke plus a separately validated API-to-ledger integration path. The local trace contains five direct records and two bounded inferences.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 1 resilience/summary.json at OSC-IS-Infra d5975ce and run 2 aws-recovery/summary.json at 25aefb8. Values: Gateway 46/46 seconds; RabbitMQ-worker 223/226 seconds; alternate peer 6/6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run 1 gitops/summary.json at OSC-IS-Infra d5975ce and run 2 aws-gitops/summary.json plus aws-post-rollback/summary.json at 25aefb8.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kubernetes-nodes.json, kubernetes-pods.json, and argocd-application.json at OSC-IS-Infra 25aefb8. Counts: 8 Argo CD, 6 Secrets Manager CSI, 3 cert-manager, 1 ingress, 16 kube-system, 6 osc-apps, and 14 osc-fabric pods.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three screenshots come from the canonical deterministic UX evidence package at OSC-WebApp 07e2a0f. They support current product-state and visual-design claims, not a live Fabric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includes 18 focused unit tests and 9/9 Cypress/axe journeys, plus manual keyboard, focus, semantics, headings, errors, responsive layout, contrast, non-color cue, and reduced-motion checks. No accessibility certification or legal opinion.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summary for slide assembly. Six deployed image roles and eight retained scan records, including two replacements, reported zero High/Critical image-scan findings. Do not generalize this result to all product dependencies or comprehensive security.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3b410ab08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a25229e0dd42bf" /><Relationship Type="http://schemas.openxmlformats.org/officeDocument/2006/relationships/slideLayout" Target="/ppt/slideLayouts/slideLayout1.xml" Id="R82cba28efb7040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ba28efb7040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2403607124cce" /><Relationship Type="http://schemas.openxmlformats.org/officeDocument/2006/relationships/notesSlide" Target="/ppt/notesSlides/notesSlide1.xml" Id="R33f13f23fd7c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a53e2edbf4b5b" /><Relationship Type="http://schemas.openxmlformats.org/officeDocument/2006/relationships/notesSlide" Target="/ppt/notesSlides/notesSlide2.xml" Id="R1d5fe4d632154e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852e9f63e2418d" /><Relationship Type="http://schemas.openxmlformats.org/officeDocument/2006/relationships/notesSlide" Target="/ppt/notesSlides/notesSlide3.xml" Id="R569a74f898c245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b79f5ef014cb3" /><Relationship Type="http://schemas.openxmlformats.org/officeDocument/2006/relationships/notesSlide" Target="/ppt/notesSlides/notesSlide4.xml" Id="R30cfc38e07884c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a909b698f43d7" /><Relationship Type="http://schemas.openxmlformats.org/officeDocument/2006/relationships/chart" Target="/ppt/slides/charts/chart1.xml" Id="R80a4f6905a774d5f" /><Relationship Type="http://schemas.openxmlformats.org/officeDocument/2006/relationships/notesSlide" Target="/ppt/notesSlides/notesSlide5.xml" Id="R30bfe844364e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4aebaa0a74f22" /><Relationship Type="http://schemas.openxmlformats.org/officeDocument/2006/relationships/chart" Target="/ppt/slides/charts/chart2.xml" Id="R05d0c9bfb489480e" /><Relationship Type="http://schemas.openxmlformats.org/officeDocument/2006/relationships/notesSlide" Target="/ppt/notesSlides/notesSlide6.xml" Id="Rb025219a623b4d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1b180978f486c" /><Relationship Type="http://schemas.openxmlformats.org/officeDocument/2006/relationships/notesSlide" Target="/ppt/notesSlides/notesSlide7.xml" Id="R4bc5077df5f642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b7e9660ff4425" /><Relationship Type="http://schemas.openxmlformats.org/officeDocument/2006/relationships/image" Target="/ppt/media/image.png" Id="Raea7a0e3e2f04e44" /><Relationship Type="http://schemas.openxmlformats.org/officeDocument/2006/relationships/image" Target="/ppt/media/image2.png" Id="R05cfe8a0fe424a45" /><Relationship Type="http://schemas.openxmlformats.org/officeDocument/2006/relationships/image" Target="/ppt/media/image3.png" Id="R6f716719ac7c4373" /><Relationship Type="http://schemas.openxmlformats.org/officeDocument/2006/relationships/notesSlide" Target="/ppt/notesSlides/notesSlide8.xml" Id="R9ed4f7b72cf7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e0f509e6c4057" /><Relationship Type="http://schemas.openxmlformats.org/officeDocument/2006/relationships/image" Target="/ppt/media/image.jpeg" Id="Rca6e3f5406af4588" /><Relationship Type="http://schemas.openxmlformats.org/officeDocument/2006/relationships/image" Target="/ppt/media/image2.jpeg" Id="Rb53c3ddc4412475e" /><Relationship Type="http://schemas.openxmlformats.org/officeDocument/2006/relationships/image" Target="/ppt/media/image3.jpeg" Id="R0e2eb28f86554e8b" /><Relationship Type="http://schemas.openxmlformats.org/officeDocument/2006/relationships/notesSlide" Target="/ppt/notesSlides/notesSlide9.xml" Id="Rcf9681e44f0b4e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bb0c0a8534959" /><Relationship Type="http://schemas.openxmlformats.org/officeDocument/2006/relationships/notesSlide" Target="/ppt/notesSlides/notesSlide10.xml" Id="R0884a288038f447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Run 1</c:v>
          </c:tx>
          <c:spPr>
            <a:solidFill xmlns:a="http://schemas.openxmlformats.org/drawingml/2006/main">
              <a:srgbClr val="008C95"/>
            </a:solidFill>
          </c:spPr>
          <c:cat>
            <c:strLit>
              <c:ptCount val="3"/>
              <c:pt idx="0">
                <c:v>Ledger Gateway</c:v>
              </c:pt>
              <c:pt idx="1">
                <c:v>RabbitMQ + worker</c:v>
              </c:pt>
              <c:pt idx="2">
                <c:v>Alternate peer</c:v>
              </c:pt>
            </c:strLit>
          </c:cat>
          <c:val>
            <c:numLit>
              <c:formatCode>General</c:formatCode>
              <c:ptCount val="3"/>
              <c:pt idx="0">
                <c:v>46</c:v>
              </c:pt>
              <c:pt idx="1">
                <c:v>223</c:v>
              </c:pt>
              <c:pt idx="2">
                <c:v>6</c:v>
              </c:pt>
            </c:numLit>
          </c:val>
        </c:ser>
        <c:ser>
          <c:idx val="1"/>
          <c:order val="1"/>
          <c:tx>
            <c:v>Run 2</c:v>
          </c:tx>
          <c:spPr>
            <a:solidFill xmlns:a="http://schemas.openxmlformats.org/drawingml/2006/main">
              <a:srgbClr val="FC8900"/>
            </a:solidFill>
          </c:spPr>
          <c:cat>
            <c:strLit>
              <c:ptCount val="3"/>
              <c:pt idx="0">
                <c:v>Ledger Gateway</c:v>
              </c:pt>
              <c:pt idx="1">
                <c:v>RabbitMQ + worker</c:v>
              </c:pt>
              <c:pt idx="2">
                <c:v>Alternate peer</c:v>
              </c:pt>
            </c:strLit>
          </c:cat>
          <c:val>
            <c:numLit>
              <c:formatCode>General</c:formatCode>
              <c:ptCount val="3"/>
              <c:pt idx="0">
                <c:v>46</c:v>
              </c:pt>
              <c:pt idx="1">
                <c:v>226</c:v>
              </c:pt>
              <c:pt idx="2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2D3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8"/>
              </a:solidFill>
              <a:prstDash val="solid"/>
            </a:ln>
          </c:spPr>
        </c:majorGridlines>
        <c:numFmt formatCode="0&quot; s&quot;"/>
        <c:majorTickMark val="none"/>
        <c:minorTickMark val="none"/>
        <c:spPr>
          <a:ln xmlns:a="http://schemas.openxmlformats.org/drawingml/2006/main" w="9525">
            <a:solidFill>
              <a:srgbClr val="B8C7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Run 1</c:v>
          </c:tx>
          <c:spPr>
            <a:solidFill xmlns:a="http://schemas.openxmlformats.org/drawingml/2006/main">
              <a:srgbClr val="008C95"/>
            </a:solidFill>
          </c:spPr>
          <c:cat>
            <c:strLit>
              <c:ptCount val="3"/>
              <c:pt idx="0">
                <c:v>Drift self-heal</c:v>
              </c:pt>
              <c:pt idx="1">
                <c:v>Rollout</c:v>
              </c:pt>
              <c:pt idx="2">
                <c:v>Rollback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13</c:v>
              </c:pt>
              <c:pt idx="2">
                <c:v>13</c:v>
              </c:pt>
            </c:numLit>
          </c:val>
        </c:ser>
        <c:ser>
          <c:idx val="1"/>
          <c:order val="1"/>
          <c:tx>
            <c:v>Run 2</c:v>
          </c:tx>
          <c:spPr>
            <a:solidFill xmlns:a="http://schemas.openxmlformats.org/drawingml/2006/main">
              <a:srgbClr val="D462AD"/>
            </a:solidFill>
          </c:spPr>
          <c:cat>
            <c:strLit>
              <c:ptCount val="3"/>
              <c:pt idx="0">
                <c:v>Drift self-heal</c:v>
              </c:pt>
              <c:pt idx="1">
                <c:v>Rollout</c:v>
              </c:pt>
              <c:pt idx="2">
                <c:v>Rollback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14</c:v>
              </c:pt>
              <c:pt idx="2">
                <c:v>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52D3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5E8"/>
              </a:solidFill>
              <a:prstDash val="solid"/>
            </a:ln>
          </c:spPr>
        </c:majorGridlines>
        <c:numFmt formatCode="0&quot; s&quot;"/>
        <c:majorTickMark val="none"/>
        <c:minorTickMark val="none"/>
        <c:spPr>
          <a:ln xmlns:a="http://schemas.openxmlformats.org/drawingml/2006/main" w="9525">
            <a:solidFill>
              <a:srgbClr val="B8C7CE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52D3F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9DE363-B863-4833-B696-127C90A6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Historical VM and Compose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35D46-6EFD-4622-A3E4-34DD24F7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HISTORICAL CONCEPTUAL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87607-B64D-4890-81D3-6E73EA46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The original deployment proved the workflow and exposed tightly coupled operational responsibilities.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E821E-D72A-4571-A84E-ACEE981D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048F2-4033-4E9D-8B3E-7AB17381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1906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Researcher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A4CB4-9958-46DE-9C1A-1E1BA087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57450"/>
            <a:ext cx="123825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8C95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WebApp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3C6BF-0B7C-49FE-9313-D795EDB9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142875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API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BEDCD-1C58-42A3-AF1C-EB29A2B2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1381125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RabbitMQ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98FD8A-A2DB-4323-987C-ED1CA8B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95500"/>
            <a:ext cx="161925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Workers + Listener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8E688-85CD-40DE-9136-CCC9E50F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476375" cy="838200"/>
          </a:xfrm>
          <a:prstGeom xmlns:a="http://schemas.openxmlformats.org/drawingml/2006/main" prst="roundRect">
            <a:avLst>
              <a:gd name="adj" fmla="val 795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Legacy adapter</a:t>
            </a:r>
          </a:p>
          <a:p xmlns:a="http://schemas.openxmlformats.org/drawingml/2006/main">
            <a:pPr algn="ctr">
              <a:defRPr sz="142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+ OSC-API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ED01D-B741-49DC-B49C-1E044138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62375"/>
            <a:ext cx="142875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E9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4CD92-BE4D-4C89-8298-E9FAAEB2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810000"/>
            <a:ext cx="2143125" cy="819150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External Fabric VM</a:t>
            </a:r>
          </a:p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Peers + ordering + chaincode</a:t>
            </a:r>
          </a:p>
        </p:txBody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838325" y="2781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09950" y="2419350"/>
            <a:ext cx="495300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419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191375" y="24193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86875" y="2419350"/>
            <a:ext cx="4286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19625" y="2743200"/>
            <a:ext cx="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963B"/>
            </a:solidFill>
            <a:prstDash val="solid"/>
            <a:head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10339388" y="2933700"/>
            <a:ext cx="114300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FC8900"/>
            </a:solidFill>
            <a:prstDash val="solid"/>
            <a:head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E9FEB-B081-41A6-ABFD-3CB5F43A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810250" cy="3238500"/>
          </a:xfrm>
          <a:prstGeom xmlns:a="http://schemas.openxmlformats.org/drawingml/2006/main" prst="roundRect">
            <a:avLst>
              <a:gd name="adj" fmla="val 2059"/>
            </a:avLst>
          </a:prstGeom>
          <a:ln xmlns:a="http://schemas.openxmlformats.org/drawingml/2006/main" w="19050">
            <a:solidFill>
              <a:srgbClr val="FC8900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FF6C1-A14C-439A-BCAE-0082E5E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954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Mutable VM + Docker Compose boundary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623D4-68A4-4F05-998B-9078DFBE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19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Fast learning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AC2A7B-948F-42D4-99E3-385BB9D1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9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Implicit responsibilities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DDCB0-48E4-46D8-B13B-CD2F1647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Historical source: original OSC-IS Draw.io architecture and repository history. Not a production topology.</a:t>
            </a:r>
          </a:p>
        </p:txBody>
      </p:sp>
    </p:spTree>
    <p:extLst>
      <p:ext uri="{BB962C8B-B14F-4D97-AF65-F5344CB8AC3E}">
        <p14:creationId xmlns:p14="http://schemas.microsoft.com/office/powerpoint/2010/main" val="1702037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51B3A4-9556-468F-91D0-121CE3C0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Authorization and Ledger Invariants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19689-5F1B-400A-BE0B-7380D8AD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EXPERIMENTALLY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553FB-6829-4E0F-8D2A-FE7E3817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Policy lives at the portal boundary; organization and ownership invariants remain enforceable at the ledger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6216D-2514-4138-A530-E421D0C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EE14E-C100-480D-8866-60E66F04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52625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Authenticated request</a:t>
            </a:r>
          </a:p>
          <a:p xmlns:a="http://schemas.openxmlformats.org/drawingml/2006/main">
            <a:pPr algn="ctr">
              <a:defRPr sz="142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JWT + active organization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186B8-D2B5-4322-8AE6-F0F27B50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0200"/>
            <a:ext cx="3143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82B49"/>
          </a:solidFill>
          <a:ln xmlns:a="http://schemas.openxmlformats.org/drawingml/2006/main" w="9525">
            <a:solidFill>
              <a:srgbClr val="182B4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API Gateway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92260-285C-41ED-A533-DD79A9C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37147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Fabric provenance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C7909-0F9B-4448-B92E-D0877BEF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95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4B6B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44B6B"/>
                </a:solidFill>
                <a:latin typeface="Calibri"/>
                <a:ea typeface="Calibri"/>
                <a:cs typeface="Calibri"/>
              </a:rPr>
              <a:t>PORTAL AUTHORIZATION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8D54A7-E6FE-4B13-9BE0-049E5635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85C56-8798-43DD-A478-D6D6EAD3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Authentication and active membership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7824D-1D30-4981-901C-316FD2D8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0E5BE-87CF-48CC-A60E-697F973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Portal roles and administration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31BB5-C814-436E-A8F1-41C809E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5200C-8157-49B6-A1C9-CAEA2A6E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Caller tenancy and audit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0516A-809C-4A78-BC7B-13F4C320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962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CA2A4E-6835-4831-A04A-4F0C832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671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Organization-scoped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8CBB62-722B-42A2-9E7E-1EAA3AA7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LEDGER INVARIANTS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ECFD3-AEF5-435C-A05F-545D9AC0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EE691-1AC6-4755-9702-A590903D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813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Submitting MSP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F9DABD-CE36-4B37-B4C8-F843639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38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18DA03-92BD-45DB-9DC1-CAAF089A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1432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Organization and ownership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3A2DC-333F-4A02-9229-569FC239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00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8397E-4871-4AA1-95AE-0C71AC12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5052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Stable keys and valid transitions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CA0655-B331-4633-85DD-E68B7B1B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D7218-E0F3-42B3-9F1D-73FA5C41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671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Ledger history and idempotency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619375" y="1933575"/>
            <a:ext cx="762000" cy="923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C6D7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524625" y="1933575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C95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95778E-7327-4216-B4A9-4F432F02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686300"/>
            <a:ext cx="2524125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4288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363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53635"/>
                </a:solidFill>
                <a:latin typeface="Calibri"/>
                <a:ea typeface="Calibri"/>
                <a:cs typeface="Calibri"/>
              </a:rPr>
              <a:t>Cross-organization request denied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CDDE97-A440-42EB-86CB-84DBA736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86300"/>
            <a:ext cx="27622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4288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363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53635"/>
                </a:solidFill>
                <a:latin typeface="Calibri"/>
                <a:ea typeface="Calibri"/>
                <a:cs typeface="Calibri"/>
              </a:rPr>
              <a:t>Direct Fabric identity misuse denied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08023-B947-45FE-977B-384CAA22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5476875"/>
            <a:ext cx="11430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4288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NSG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FF223A-E845-409F-A361-A6A348FB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476875"/>
            <a:ext cx="14763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4288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Citizen Science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32A599-0CE2-4AB4-9A59-72B5C88E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Fabric used organization service identities; individual attribution remained in trusted Gateway audit metadata.</a:t>
            </a:r>
          </a:p>
        </p:txBody>
      </p:sp>
    </p:spTree>
    <p:extLst>
      <p:ext uri="{BB962C8B-B14F-4D97-AF65-F5344CB8AC3E}">
        <p14:creationId xmlns:p14="http://schemas.microsoft.com/office/powerpoint/2010/main" val="619111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868F15-9EFC-45FD-A842-34F33721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Disposable AWS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F5789-F750-4ED8-B288-991F96B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EXPERIMENTALLY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53899-6249-426D-9C1A-9603FB87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GitOps reconciled a two-organization provenance stack on three private EKS nodes.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F454D-E1E3-4516-BF25-F3C9201D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CFE95-E2AE-40D7-BBBB-C13DA81B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619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Git repository</a:t>
            </a:r>
          </a:p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Declared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A18BD-B6FA-4FB9-BBA7-10051CD8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476375"/>
            <a:ext cx="171450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Argo CD</a:t>
            </a:r>
          </a:p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Healthy + Synced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1809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963B"/>
            </a:solidFill>
            <a:prstDash val="solid"/>
            <a:head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BBB529-475B-4E03-95C1-DB704B1A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95375" cy="55245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FC08E-5A96-47CA-B903-C62D8505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57500"/>
            <a:ext cx="1571625" cy="74295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CloudFront + S3</a:t>
            </a:r>
          </a:p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WebApp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762125" y="32289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C6D7"/>
            </a:solidFill>
            <a:prstDash val="solid"/>
            <a:head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46FA89-2017-4A34-B689-E9BC3108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7429500" cy="3381375"/>
          </a:xfrm>
          <a:prstGeom xmlns:a="http://schemas.openxmlformats.org/drawingml/2006/main" prst="roundRect">
            <a:avLst>
              <a:gd name="adj" fmla="val 1972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B1C4F-760D-4A7A-B5D4-0452465B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Private EKS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50BF4-A520-425D-B18C-D5D0ACC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3 Ready nodes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3C25D-756A-4F94-84A1-DCE29600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1381125" cy="590550"/>
          </a:xfrm>
          <a:prstGeom xmlns:a="http://schemas.openxmlformats.org/drawingml/2006/main" prst="roundRect">
            <a:avLst>
              <a:gd name="adj" fmla="val 112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21B13-EC50-4DE4-A092-49B2B96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138112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PostgreSQL</a:t>
            </a:r>
          </a:p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+ outbox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67D7D-592E-4027-8443-0D5A3DB6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1666875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Private Amazon MQ</a:t>
            </a:r>
          </a:p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RabbitMQ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2F894-1945-403C-AC4D-AFEA667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33875"/>
            <a:ext cx="1666875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4B6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Submission worker</a:t>
            </a:r>
          </a:p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+ listener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00F00-BEC2-4921-9AD7-AEAB180B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00375"/>
            <a:ext cx="13335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NSG Ledger</a:t>
            </a:r>
          </a:p>
          <a:p xmlns:a="http://schemas.openxmlformats.org/drawingml/2006/main">
            <a:pPr algn="ctr">
              <a:defRPr sz="1275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5193A-8AB9-4685-B5B6-52E95CD0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133350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Citizen Science</a:t>
            </a:r>
          </a:p>
          <a:p xmlns:a="http://schemas.openxmlformats.org/drawingml/2006/main">
            <a:pPr algn="ctr">
              <a:defRPr sz="1200" b="1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Ledger Gateway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38357-0294-4E16-B0C4-EE8A0F87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285875" cy="1143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182B49"/>
          </a:solidFill>
          <a:ln xmlns:a="http://schemas.openxmlformats.org/drawingml/2006/main" w="9525">
            <a:solidFill>
              <a:srgbClr val="182B4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Fabric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orgs + ordering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provenance chaincode</a:t>
            </a:r>
          </a:p>
        </p:txBody>
      </p: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743325" y="3228975"/>
            <a:ext cx="685800" cy="209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C6D7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3714750" y="2143125"/>
            <a:ext cx="1404938" cy="1000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6E963B"/>
            </a:solidFill>
            <a:prstDash val="dash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119688" y="373380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E963B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810250" y="3438525"/>
            <a:ext cx="4286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FC8900"/>
            </a:solidFill>
            <a:prstDash val="solid"/>
            <a:head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7072313" y="382905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C8900"/>
            </a:solidFill>
            <a:prstDash val="solid"/>
            <a:head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905750" y="3343275"/>
            <a:ext cx="428625" cy="1323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C6D7"/>
            </a:solidFill>
            <a:prstDash val="solid"/>
            <a:head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905750" y="4667250"/>
            <a:ext cx="4286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E963B"/>
            </a:solidFill>
            <a:prstDash val="solid"/>
            <a:head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67875" y="3343275"/>
            <a:ext cx="333375" cy="561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00C6D7"/>
            </a:solidFill>
            <a:prstDash val="solid"/>
            <a:head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667875" y="3905250"/>
            <a:ext cx="333375" cy="771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6E963B"/>
            </a:solidFill>
            <a:prstDash val="solid"/>
            <a:head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6AEF5-0D8F-422C-8576-38386584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8637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Secrets Manager + workload identity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A7EE81-0160-4D5B-B44B-47EA0D7A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Disposable experiment, not a production topology. Workloads and images were deployed by immutable revision/digest.</a:t>
            </a:r>
          </a:p>
        </p:txBody>
      </p:sp>
    </p:spTree>
    <p:extLst>
      <p:ext uri="{BB962C8B-B14F-4D97-AF65-F5344CB8AC3E}">
        <p14:creationId xmlns:p14="http://schemas.microsoft.com/office/powerpoint/2010/main" val="1817729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13D10-3C9E-4128-B00E-A7F067AC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Three Evidence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C4860C-3099-41E7-A07A-2EB621D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EVIDENCE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CD68A-6F56-414E-8398-DF2BE5C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Each layer answers a different question; together they avoid an inflated browser-to-ledger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8B7E6-31DE-4AF6-9D53-01E4CE58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5CEFF-C1B3-4643-8924-89A63CDE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1  Browser edge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FD7F0-916C-4AB2-8514-9AC3F77E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809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6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F943F-A4B4-4064-8E85-02305B5C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09725"/>
            <a:ext cx="4953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AF5F7"/>
          </a:solidFill>
          <a:ln xmlns:a="http://schemas.openxmlformats.org/drawingml/2006/main" w="14288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CloudFront, catalogs, navigation, mobile layout, session presentation, axe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C6726-A4E2-49A0-A67C-22BB6793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04975"/>
            <a:ext cx="20002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C6D7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3/3 browser smoke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06541-C71B-484E-84C6-E3F9C654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2  AWS API-to-ledger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51107-1673-4615-8EA9-989A068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809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C89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780A8-AB80-4F2C-BE37-56D9448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38475"/>
            <a:ext cx="4953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4288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Authorization, asynchronous submission, ledger revisions, recovery, rollout and rollback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2E1A4-305A-4A63-BE0A-8297D289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33725"/>
            <a:ext cx="20002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Two separate AWS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EBA7D-EF97-4332-9C19-9A1C1542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3  Local correlated trace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F851D-34E5-44D4-82BE-4E9059CA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09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96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7E529-103D-4F79-B8D9-47449992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67225"/>
            <a:ext cx="4953000" cy="7239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4288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One request across outbox, RabbitMQ, worker, Ledger Gateway, Fabric, completion and final API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A080D-D744-4686-A809-88449FD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562475"/>
            <a:ext cx="200025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5 direct + 2 inferred links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BB2F5-EB3A-4F1E-9F4F-66B5976B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05500"/>
            <a:ext cx="21431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2B49"/>
          </a:solidFill>
          <a:ln xmlns:a="http://schemas.openxmlformats.org/drawingml/2006/main" w="9525">
            <a:solidFill>
              <a:srgbClr val="182B49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Retained evidence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0A3D2-A3AB-4828-88D5-DFAE5682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363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B53635"/>
                </a:solidFill>
                <a:latin typeface="Calibri"/>
                <a:ea typeface="Calibri"/>
                <a:cs typeface="Calibri"/>
              </a:rPr>
              <a:t>No full browser-to-ledger E2E claim</a:t>
            </a:r>
          </a:p>
        </p:txBody>
      </p:sp>
    </p:spTree>
    <p:extLst>
      <p:ext uri="{BB962C8B-B14F-4D97-AF65-F5344CB8AC3E}">
        <p14:creationId xmlns:p14="http://schemas.microsoft.com/office/powerpoint/2010/main" val="2140565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5E4CF-3ED6-4329-8C34-0B8E515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Controlled Recovery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219CC-8FD1-4B7D-BFE5-FA43F0C2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EXPERIMENTALLY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215F2-3422-4A1D-B0AB-2D9B83B0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Elapsed seconds from controlled dependency interruption to observed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47195-F947-4FFD-BDA1-17FD0B74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952500" y="1571625"/>
          <a:ext xmlns:a="http://schemas.openxmlformats.org/drawingml/2006/main" cx="10096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a4f6905a774d5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DCBD6-7366-4D79-8587-82B0F5B3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410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A5413-A042-4739-87CB-0B86FA17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244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06B48-3778-4E20-9979-A280F3B7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62A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94A53-7314-4AD6-8D04-79717C5D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244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Run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29405D-126B-4C0E-856B-8D039D8F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67375"/>
            <a:ext cx="723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4288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One ledger revision observed in each retained recovery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25677-DD28-40FD-82D6-D3B432F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Measured observations from two disposable AWS runs. These are not SLO, HA, or disaster-recovery claims.</a:t>
            </a:r>
          </a:p>
        </p:txBody>
      </p:sp>
    </p:spTree>
    <p:extLst>
      <p:ext uri="{BB962C8B-B14F-4D97-AF65-F5344CB8AC3E}">
        <p14:creationId xmlns:p14="http://schemas.microsoft.com/office/powerpoint/2010/main" val="1441738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B85FE-6F45-4B56-8B7E-42BBDAB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GitOps Reconciliation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2D564-CE93-4658-B0E1-042838D1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EXPERIMENTALLY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4BE6A-BE1A-4B41-9858-F2F0931D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Argo CD restored declared state and immutable revisions in both disposable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79F7B-56E3-4A22-9334-DEC57A3E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1143000" y="1571625"/>
          <a:ext xmlns:a="http://schemas.openxmlformats.org/drawingml/2006/main" cx="9715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d0c9bfb48948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0700D-C63D-48C1-BDA2-F1186CEF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959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Declared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CBE0-5EF5-45E3-A637-ADDB6FD0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959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Drift detected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5E157-73E4-4F61-ADA7-C50C91A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6959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Known-good restored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EFACA-10FB-4024-8FC3-ABDDF2BA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Measured observations, not a production deployment-frequency or reliability target.</a:t>
            </a:r>
          </a:p>
        </p:txBody>
      </p:sp>
    </p:spTree>
    <p:extLst>
      <p:ext uri="{BB962C8B-B14F-4D97-AF65-F5344CB8AC3E}">
        <p14:creationId xmlns:p14="http://schemas.microsoft.com/office/powerpoint/2010/main" val="19458938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431E6D-BC6A-454C-BC4C-1471DF12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Observed Kubernetes Workload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70C14-A89F-4905-AB5D-F1045171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EXPERIMENTALLY DEMONSTRATED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173DE-6569-4487-B03D-7793D27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 retained snapshot showed 54 Running pods across three Ready EKS nodes.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3FF14-1130-4499-8F77-C39E0C6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1F211-A321-4C3A-BFB7-1267D22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714500" cy="619125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9050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Argo CD</a:t>
            </a:r>
          </a:p>
          <a:p xmlns:a="http://schemas.openxmlformats.org/drawingml/2006/main">
            <a:pPr algn="ctr">
              <a:defRPr sz="13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Healthy + Synced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0C516B-5CD2-4DF3-910A-EBD8269F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34 platform pods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6D94E-BE99-471C-8453-D14B0C1F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6 application pods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4C895E-C99B-4F90-B04A-43A2BB8E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762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14 Fabric pods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012E6-F1C3-4B0B-AFD9-8E9F257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All Running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D8CB0-F3D8-4B33-A4F7-39E3DC0F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3524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23813">
            <a:solidFill>
              <a:srgbClr val="FC89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8A7C0-442B-46AD-948A-284B7E7D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Node A  Shared / ordering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626A5-E9F5-47A6-9C86-7FBF20CF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zone 2a  |  m7i.large  |  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F4E02-6A42-4BC7-93C5-E7858C52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67AD7-6741-4CAF-BD93-89A6CB6E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874AB-4B83-49F2-88CD-7F2552B0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1950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PostgreSQL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4A9C0-EF6E-4A5D-B4EA-2AB1398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16D044-9A08-4280-9503-5570D2D2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4335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Citizen Science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6402F-D074-4837-91EF-C6924FA9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FABRIC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2E9431-227A-4EBD-A8BA-928E9F38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89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DDFE1-B22D-4521-8023-8DC252B9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71487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Ordering service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243AEA-8E91-42A0-B677-FDEF2DE5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8900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898BE-26B4-4D71-B90E-45F3A62E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101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Org 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63BDD-CB66-4A91-83B1-CDF88BF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8900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3BAE3-BCDD-496C-93F0-5D617F2D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30542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Chaincode pods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6980E9-C7D6-4C1F-83E5-D5E193C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333750" cy="3524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23813">
            <a:solidFill>
              <a:srgbClr val="00C6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9071C-5697-440F-B989-43D9924B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Node B  NSG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43637-163F-41A5-951D-3B09E58E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05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zone 2b  |  m7i.large  | 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1AB83C-60D7-4C3C-B467-DC08B102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33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C33B4-9042-4B53-AF2C-1DC33B72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F87701-C198-4E33-A5BB-1FEA340A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API Gateway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07A7D-5772-4DD5-80AB-FD8AFDA1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F4E58F-4183-4493-BBAD-B9B75001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Submission worker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421558-819E-4F24-9AE4-F9E60EE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FABRIC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21006-F1AE-41EC-BD3A-5B166412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AACE1D-6B57-4D2D-94F6-17551A6E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1487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NSG CA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2706B0-8DA4-4D19-9DD5-61F7A75D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827B45-9F5B-445A-B483-F928DC2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101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NSG peers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AB5516-44E5-45FE-9274-7BE6DFA1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4006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6D7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9ACD00-7AD0-41CE-882B-76EA5047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Chaincode pod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B23216-0816-40FB-95C2-8A1396D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333750" cy="352425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7F8"/>
          </a:solidFill>
          <a:ln xmlns:a="http://schemas.openxmlformats.org/drawingml/2006/main" w="23813">
            <a:solidFill>
              <a:srgbClr val="6E963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846597-F3D1-4BEA-A348-D119EE3B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2412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Node C  Citizen Science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C8A45E-EDBB-40A0-A4A5-170EEA83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zone 2b  |  m7i.large  |  Ready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B2C439-3205-4682-A9CF-AC265E3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337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APPLICATION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D52B58-152F-435F-B2C3-04524AA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FC4108-2444-4CA6-8F27-818D4C1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1950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NSG Ledger Gateway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8909AB-43F2-491C-9EF2-19342F22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2665FF-E400-4461-8316-794B74A2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2695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Submission listener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BC5312-C93D-4991-A873-5A823A8F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29125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FABRIC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4C79CB1-EB24-470C-BC16-A7070AD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101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882D46-3F9F-47CC-A76E-70BDB726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14875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Citizen Science CA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E7174F-598E-4FDA-8329-A7DF2890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963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D5D529-99BB-4788-AE21-90BD5A21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010150"/>
            <a:ext cx="2695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Citizen Science peers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9FB0C5-019E-406A-AAC4-7206DFF6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Observed scheduling snapshot, not an intended high-availability topology. Node names and private addresses are intentionally omitted.</a:t>
            </a:r>
          </a:p>
        </p:txBody>
      </p:sp>
    </p:spTree>
    <p:extLst>
      <p:ext uri="{BB962C8B-B14F-4D97-AF65-F5344CB8AC3E}">
        <p14:creationId xmlns:p14="http://schemas.microsoft.com/office/powerpoint/2010/main" val="777112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EDB4F6-13AD-4798-88CA-0553FF0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Artifact, Workflow, and Provenance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D0E95-F942-434B-A76F-FD7F8497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CURRENTLY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532C0-2C3F-47B0-8A54-EDC5AF07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Deterministic fixtures make the product states repeatable; they are not live-ledger screenshots.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A5F9F-0015-4171-8DCC-5B13D9A6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7a0e3e2f04e44"/>
          <a:stretch xmlns:a="http://schemas.openxmlformats.org/drawingml/2006/main"/>
        </p:blipFill>
        <p:spPr>
          <a:xfrm xmlns:a="http://schemas.openxmlformats.org/drawingml/2006/main">
            <a:off x="381000" y="1668066"/>
            <a:ext cx="3714750" cy="232171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FF508-FA13-43A9-9903-DBEADE0C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3714750" cy="23241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B8C7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E7867-D0E3-480A-840F-03136396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71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Artifact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6EA9B-389B-4751-902F-DE6D8EC8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33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Artifact metadata, organization, fingerprint, and transaction context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fe8a0fe424a45"/>
          <a:stretch xmlns:a="http://schemas.openxmlformats.org/drawingml/2006/main"/>
        </p:blipFill>
        <p:spPr>
          <a:xfrm xmlns:a="http://schemas.openxmlformats.org/drawingml/2006/main">
            <a:off x="4238625" y="1668066"/>
            <a:ext cx="3714750" cy="232171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622B3-6A88-4404-A09A-A43E6D55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66875"/>
            <a:ext cx="3714750" cy="23241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B8C7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E56CF-D255-41DA-B1B6-44213963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Workflow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E2F7CB-3034-4F8F-99E2-720B7A9E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Workflow relationships and committed ledger-event context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16719ac7c4373"/>
          <a:stretch xmlns:a="http://schemas.openxmlformats.org/drawingml/2006/main"/>
        </p:blipFill>
        <p:spPr>
          <a:xfrm xmlns:a="http://schemas.openxmlformats.org/drawingml/2006/main">
            <a:off x="8096250" y="1668066"/>
            <a:ext cx="3714750" cy="232171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DE58D-55CB-4934-90D2-20A8CFCF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714750" cy="2324100"/>
          </a:xfrm>
          <a:prstGeom xmlns:a="http://schemas.openxmlformats.org/drawingml/2006/main" prst="rect">
            <a:avLst/>
          </a:prstGeom>
          <a:ln xmlns:a="http://schemas.openxmlformats.org/drawingml/2006/main" w="14288">
            <a:solidFill>
              <a:srgbClr val="B8C7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1C829-E634-4060-8C93-DF08CC0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Accepted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6D50B-CE93-4B66-B16B-4BCB4B33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339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Version timeline, transaction evidence, and verification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E586C-639A-41C6-8062-682F5EEB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4572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EFF6E9"/>
          </a:solidFill>
          <a:ln xmlns:a="http://schemas.openxmlformats.org/drawingml/2006/main" w="14288">
            <a:solidFill>
              <a:srgbClr val="6E963B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Three views of the same provenance-centered product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EDD1A-081E-460F-99C7-131AA7A7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Source revision: OSC-WebApp 07e2a0f. Demonstration records are synthetic and representative.</a:t>
            </a:r>
          </a:p>
        </p:txBody>
      </p:sp>
    </p:spTree>
    <p:extLst>
      <p:ext uri="{BB962C8B-B14F-4D97-AF65-F5344CB8AC3E}">
        <p14:creationId xmlns:p14="http://schemas.microsoft.com/office/powerpoint/2010/main" val="805455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D338A-07E2-483E-BC80-D41FD868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Accessibility Regression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71FF0-3595-4DAF-876D-5D21F978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CURRENTLY IMPLEMENTED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410AD-88D5-416C-96DA-7761230F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Automated and manual checks target WCAG 2.2 AA; this is not certification.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42BAA-150E-4C86-9063-878B88F7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e3f5406af4588"/>
          <a:srcRect xmlns:a="http://schemas.openxmlformats.org/drawingml/2006/main" l="0" t="13933" r="0" b="13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71625"/>
            <a:ext cx="23812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4842A-F1AE-47A0-A5FE-4B2DE19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Keyboard focus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3c3ddc4412475e"/>
          <a:srcRect xmlns:a="http://schemas.openxmlformats.org/drawingml/2006/main" l="0" t="13915" r="0" b="13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76625" y="1571625"/>
            <a:ext cx="238125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A9C86C-7409-497B-9A69-DF5D2485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381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Error and retry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eb28f86554e8b"/>
          <a:srcRect xmlns:a="http://schemas.openxmlformats.org/drawingml/2006/main" l="0" t="20917" r="0" b="20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571625"/>
            <a:ext cx="2381250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46CEC-C947-429D-B009-5FB8C7F4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81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Expired session reflow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92921-B065-4F70-A79D-665B8D5C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1A0A6-942A-486F-8961-B8C60137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479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focused unit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7DF76-8C27-41CC-9D67-B08712F4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3750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9/9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28C337-7F4B-4E1D-8B9F-92757A41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1243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52D3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52D3F"/>
                </a:solidFill>
                <a:latin typeface="Calibri"/>
                <a:ea typeface="Calibri"/>
                <a:cs typeface="Calibri"/>
              </a:rPr>
              <a:t>Cypress/axe journeys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6FE13-A348-4385-BA27-A63760C8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571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4288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53635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B53635"/>
                </a:solidFill>
                <a:latin typeface="Calibri"/>
                <a:ea typeface="Calibri"/>
                <a:cs typeface="Calibri"/>
              </a:rPr>
              <a:t>No screen-reader or native-zoom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4DBE5-497A-42CE-A692-CFAEE323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Source revision: OSC-WebApp 16b18d3. Report-level 222/222 execution history is not raw-transcript-backed.</a:t>
            </a:r>
          </a:p>
        </p:txBody>
      </p:sp>
    </p:spTree>
    <p:extLst>
      <p:ext uri="{BB962C8B-B14F-4D97-AF65-F5344CB8AC3E}">
        <p14:creationId xmlns:p14="http://schemas.microsoft.com/office/powerpoint/2010/main" val="675840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DFBE6-432B-4CB3-9878-91B4ECC1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Trust Surfaces Beyond the Ledger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C2630-B84A-4DFB-A569-A0BD368A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EVIDENCE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C4D8B-16B8-459A-99A7-7E0175E4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Usability, deployability, reviewability, and cleanup were treated as product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620C0-29BD-43A5-BB86-72370993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7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CF23-E20F-4498-9573-D62D12D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08C9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008C95"/>
                </a:solidFill>
                <a:latin typeface="Calibri"/>
                <a:ea typeface="Calibri"/>
                <a:cs typeface="Calibri"/>
              </a:rPr>
              <a:t>9/9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C1AC5-5DE9-4980-AC5B-2731925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Cypress/axe journeys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35AE26-9226-4852-A033-9D615DEB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573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C8900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C89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73366-ED30-442A-B86A-90025A95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9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deployed image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4D524-3745-4802-9A00-6BAE3EB3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462AD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D462AD"/>
                </a:solidFill>
                <a:latin typeface="Calibri"/>
                <a:ea typeface="Calibri"/>
                <a:cs typeface="Calibri"/>
              </a:rPr>
              <a:t>$1.41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5EED5-630B-482C-A18E-556FEDB3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nearest-cent run 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7D3D2-B005-4676-ADE8-545D7C0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219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6E963B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6E963B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CD6A7A-855D-48BF-9266-92FFF148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B49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82B49"/>
                </a:solidFill>
                <a:latin typeface="Calibri"/>
                <a:ea typeface="Calibri"/>
                <a:cs typeface="Calibri"/>
              </a:rPr>
              <a:t>live experiment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66B57-290A-4A00-B4ED-C91A5D3D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Accessibility regression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6323B-0AA8-43AF-B2D3-A8085F9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8 retained scan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8B0BC-C8C2-49E5-96DA-CC244C8E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$1.42 conservative ceiling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CAD799-C8FB-42F5-9884-B8EF7684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57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after authoritative teardown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C9692-91B1-483D-928F-77F2AED8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05375"/>
            <a:ext cx="92392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9050">
            <a:solidFill>
              <a:srgbClr val="FC8900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53635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B53635"/>
                </a:solidFill>
                <a:latin typeface="Calibri"/>
                <a:ea typeface="Calibri"/>
                <a:cs typeface="Calibri"/>
              </a:rPr>
              <a:t>Current release boundary: WebApp governance reports 15 High production dependency findings.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FA4DB-AF23-42CA-BA67-F97BC1B1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84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667784"/>
                </a:solidFill>
                <a:latin typeface="Calibri"/>
                <a:ea typeface="Calibri"/>
                <a:cs typeface="Calibri"/>
              </a:rPr>
              <a:t>Image-scan findings do not describe the full dependency estate. Cost is an estimate, not an invoice.</a:t>
            </a:r>
          </a:p>
        </p:txBody>
      </p:sp>
    </p:spTree>
    <p:extLst>
      <p:ext uri="{BB962C8B-B14F-4D97-AF65-F5344CB8AC3E}">
        <p14:creationId xmlns:p14="http://schemas.microsoft.com/office/powerpoint/2010/main" val="1922999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2026-09-09T18:08:45.0160000Z</dcterms:created>
  <dcterms:modified xsi:type="dcterms:W3CDTF">2026-09-09T18:08:45.0170000Z</dcterms:modified>
</coreProperties>
</file>